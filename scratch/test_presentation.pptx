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
<Relationships xmlns="http://schemas.openxmlformats.org/package/2006/relationships">
  <Relationship Id="rId1" Type="http://schemas.openxmlformats.org/officeDocument/2006/relationships/officeDocument" Target="ppt/presentation.xml"/>
  <Relationship Id="rId2" Type="http://schemas.openxmlformats.org/package/2006/relationships/metadata/core-properties" Target="docProps/core.xml"/>
  <Relationship Id="rId3" Type="http://schemas.openxmlformats.org/officeDocument/2006/relationships/extended-properties" Target="docProps/app.xml"/>
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 varScale="1">
        <p:scale>
          <a:sx n="48" d="100"/>
          <a:sy n="48" d="100"/>
        </p:scale>
        <p:origin x="492" y="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
<Relationships xmlns="http://schemas.openxmlformats.org/package/2006/relationships">
  <Relationship Id="rId1" Type="http://schemas.openxmlformats.org/officeDocument/2006/relationships/slideMaster" Target="slideMasters/slideMaster1.xml"/>
  <Relationship Id="rId2" Type="http://schemas.openxmlformats.org/officeDocument/2006/relationships/theme" Target="theme/theme1.xml"/>
  <Relationship Id="rId3" Type="http://schemas.openxmlformats.org/officeDocument/2006/relationships/presProps" Target="presProps.xml"/>
  <Relationship Id="rId4" Type="http://schemas.openxmlformats.org/officeDocument/2006/relationships/viewProps" Target="viewProps.xml"/>
  <Relationship Id="rId5" Type="http://schemas.openxmlformats.org/officeDocument/2006/relationships/tableStyles" Target="tableStyles.xml"/>
  <Relationship Id="rId6" Type="http://schemas.openxmlformats.org/officeDocument/2006/relationships/slide" Target="slides/slide1.xml"/>
  <Relationship Id="rId7" Type="http://schemas.openxmlformats.org/officeDocument/2006/relationships/slide" Target="slides/slide2.xml"/>
  <Relationship Id="rId8" Type="http://schemas.openxmlformats.org/officeDocument/2006/relationships/slide" Target="slides/slide3.xml"/>
  <Relationship Id="rId9" Type="http://schemas.openxmlformats.org/officeDocument/2006/relationships/slide" Target="slides/slide4.xml"/>
  <Relationship Id="rId10" Type="http://schemas.openxmlformats.org/officeDocument/2006/relationships/slide" Target="slides/slide5.xml"/>
  <Relationship Id="rId11" Type="http://schemas.openxmlformats.org/officeDocument/2006/relationships/slide" Target="slides/slide6.xml"/>
  <Relationship Id="rId12" Type="http://schemas.openxmlformats.org/officeDocument/2006/relationships/slide" Target="slides/slide7.xml"/>
  <Relationship Id="rId13" Type="http://schemas.openxmlformats.org/officeDocument/2006/relationships/slide" Target="slides/slide8.xml"/>
</Relationships>
</file>

<file path=ppt/slideLayouts/_rels/slideLayout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1E7B26C-0A18-4C27-9A74-D8179C8CDE7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7FFC9519-971B-4E63-B181-32CBA5A3294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588A7BC2-A95C-4529-8FB7-CEEDF9BF379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3AFB5DA5-01A3-4163-A8FD-107CAF900A0C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0C612B6-00B5-47CA-9911-2E6D3867751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26888115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D066B12-7508-42EC-9E52-94319767F37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08608827-8D2F-46F4-AC33-633E1D0C5B19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FDA513F-BADB-4911-BE59-F573FAC205A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09292B56-1F4E-4CE0-A6C8-BFA2414FDED4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32EA37D7-0FF8-41F8-B265-B282FF912B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70261623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6AA646-EC3B-4624-9E87-37376DD6B26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679C009-AAB8-4576-B926-760C214BD2B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532B8D4-D709-45BB-BA26-2D7EAB98944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294C8B1-0419-4AE7-905D-1B1575759E3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CFC4F349-960D-4695-8C44-947182ABD83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24304260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360490A-D0F2-4DC5-924B-3A3BA112B8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42EB14-E0CE-4222-B71B-53B1049B5FB2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1223312F-F5A8-4FB8-94CF-ED398A84D44F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25A1D46-0974-47F6-80C1-624BB2599D9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89651DD-D881-40CF-AE69-97407130C4C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E0742455-3898-4166-B125-487CF5D2378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7251075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128944A0-4EDB-4BF9-9EA1-9F667D958A77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34B2362-33AA-40FB-9F50-FB0E261CE81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0790913-DB7E-47C5-AEF4-26784ACE30E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963805CF-EFDB-45DC-8CDF-A353B8FF01B1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236C0956-9779-42EB-811F-F0A7A4CD888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1E564095-C2CF-415A-B6BA-1211943DFA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65F1B691-9ACA-4FEC-9C03-00F5FEB8F2A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AC5251C7-3BD8-4D40-85E1-3170EE86684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954698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CEAF08-D06B-4054-91B8-1EB34AEF936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F0445B40-E5A4-4C5B-9F95-8DAC6ED0070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960C7C3F-3213-4A18-A87D-0CE2C7DA2AFB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7DDFD718-8B2A-4F02-95D0-1D9E8E4A0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95924193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9F0BCD09-5210-48F6-9F95-C6D0B5FEF75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03203315-5AFC-43C5-BEA0-E7CF28E74EB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05C1231-A921-4861-A8FA-53C0E3B04BD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79744602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21F09E7-1513-48BB-AFEB-00F982EBB6F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36ED775-94E9-427D-A942-C6517798F12F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51623340-F05F-4EA3-A354-A6B21ECDED7F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37C5DCA5-49F5-4A29-AAFF-13C74EC0CCE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7308514-293A-430A-A1CF-9D381186FBC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12EE62DF-18A5-4D8C-B0ED-F3372A2020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19650908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C7C4F17-D1D3-49D2-A270-B0648971563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4BDDDC76-BDBA-4EB5-B9AE-4E0CC3F7D3A8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EBF3E10A-1CC3-4F2F-83E0-3B770BB62771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C8AE7D7B-108D-44AC-9C69-0F703DAA4BED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5BF172FD-FAA2-4309-AD4A-33E622E8EF2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2066F060-99C9-425D-AEED-706CDB81CDD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704460557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A6652C7-E0DD-4424-A5B8-43456EBF53C2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115F108-8834-4972-BECA-8B201B8B2411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98D1451-E2D9-457B-9D71-21A9C83CAD7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43110C32-A9C5-4141-A70F-7F3319B0C05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D60EA0C1-8DFB-4C55-8FDC-52B01DD1621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4147375159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B4882BDE-F28E-4DE6-A68B-DBE5C6D4E3C3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44D37E21-AF96-4DC4-9034-1AEBFBACBF49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BCDDE9B8-A1B9-4DC4-922F-E2C62D65EDF8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9FB4E86-1BFE-4A4C-A641-C3E1EFDF124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721D559-6756-48D0-82D3-62576174E59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06852395"/>
      </p:ext>
    </p:extLst>
  </p:cSld>
  <p:clrMapOvr>
    <a:masterClrMapping/>
  </p:clrMapOvr>
</p:sldLayout>
</file>

<file path=ppt/slideMasters/_rels/slideMaster1.xml.rels><?xml version="1.0" encoding="UTF-8" standalone="yes"?>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FCE2BDF1-EF74-470B-AC64-E850667BF43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35218F00-40A9-4C09-9685-AC1066597064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42333ADC-69C4-4877-84AD-BD0770792F26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FBBACFF-2033-42CB-965B-5649F963954F}" type="datetimeFigureOut">
              <a:rPr lang="en-US" smtClean="0"/>
              <a:t>9/1/2026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34A9CD2-6341-4D01-B499-DC631FCAC82C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29128D9C-ECA2-4FB1-8155-4DD84EF39D95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F44CF9FB-417B-486D-A087-08F5B7B513FE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97555971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9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1.xml"/>
</Relationships>
</file>

<file path=ppt/slides/_rels/slide2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2.jpeg"/>
</Relationships>
</file>

<file path=ppt/slides/_rels/slide3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3.jpeg"/>
</Relationships>
</file>

<file path=ppt/slides/_rels/slide4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4.jpeg"/>
</Relationships>
</file>

<file path=ppt/slides/_rels/slide5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5.jpeg"/>
</Relationships>
</file>

<file path=ppt/slides/_rels/slide6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6.jpeg"/>
</Relationships>
</file>

<file path=ppt/slides/_rels/slide7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7.jpeg"/>
</Relationships>
</file>

<file path=ppt/slides/_rels/slide8.xml.rels><?xml version="1.0" encoding="UTF-8" standalone="yes"?>
<Relationships xmlns="http://schemas.openxmlformats.org/package/2006/relationships">
  <Relationship Id="rId1" Type="http://schemas.openxmlformats.org/officeDocument/2006/relationships/slideLayout" Target="../slideLayouts/slideLayout2.xml"/>
  <Relationship Id="rId2" Type="http://schemas.openxmlformats.org/officeDocument/2006/relationships/image" Target="../media/image8.jpeg"/>
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Background"/>
          <p:cNvSpPr/>
          <p:nvPr/>
        </p:nvSpPr>
        <p:spPr>
          <a:xfrm>
            <a:off x="400000" y="400000"/>
            <a:ext cx="11392000" cy="6058000"/>
          </a:xfrm>
          <a:prstGeom prst="rect">
            <a:avLst/>
          </a:prstGeom>
          <a:solidFill>
            <a:srgbClr val="0F172A"/>
          </a:solidFill>
          <a:ln w="19050">
            <a:solidFill>
              <a:srgbClr val="1E293B"/>
            </a:solidFill>
          </a:ln>
        </p:spPr>
      </p:sp>
      <p:sp>
        <p:nvSpPr>
          <p:cNvPr id="3" name="TopGlow"/>
          <p:cNvSpPr/>
          <p:nvPr/>
        </p:nvSpPr>
        <p:spPr>
          <a:xfrm>
            <a:off x="400000" y="400000"/>
            <a:ext cx="11392000" cy="9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4" name="UnivBadge"/>
          <p:cNvSpPr/>
          <p:nvPr/>
        </p:nvSpPr>
        <p:spPr>
          <a:xfrm>
            <a:off x="3100000" y="800000"/>
            <a:ext cx="5992000" cy="450000"/>
          </a:xfrm>
          <a:prstGeom prst="rect">
            <a:avLst/>
          </a:prstGeom>
          <a:solidFill>
            <a:srgbClr val="1E293B"/>
          </a:solidFill>
          <a:ln w="12700">
            <a:solidFill>
              <a:srgbClr val="2563EB"/>
            </a:solidFill>
          </a:ln>
        </p:spPr>
        <p:txBody>
          <a:bodyPr anchor="ctr" rtlCol="0"/>
          <a:lstStyle/>
          <a:p>
            <a:pPr algn="ctr"/>
            <a:r>
              <a:rPr lang="ar-IQ" sz="1350" b="1">
                <a:solidFill>
                  <a:srgbClr val="38BDF8"/>
                </a:solidFill>
                <a:latin typeface="Calibri"/>
                <a:cs typeface="Calibri"/>
              </a:rPr>
              <a:t>زانکۆی سەڵاحەدین</a:t>
            </a:r>
          </a:p>
        </p:txBody>
      </p:sp>
      <p:sp>
        <p:nvSpPr>
          <p:cNvPr id="6" name="Title"/>
          <p:cNvSpPr>
            <a:spLocks noGrp="1"/>
          </p:cNvSpPr>
          <p:nvPr/>
        </p:nvSpPr>
        <p:spPr>
          <a:xfrm>
            <a:off x="900000" y="1500000"/>
            <a:ext cx="10392000" cy="2200000"/>
          </a:xfrm>
          <a:prstGeom prst="rect">
            <a:avLst/>
          </a:prstGeom>
        </p:spPr>
        <p:txBody>
          <a:bodyPr anchor="ctr" rtlCol="1"/>
          <a:lstStyle/>
          <a:p>
            <a:pPr algn="ctr" rtl="1"/>
            <a:r>
              <a:rPr lang="ar-IQ" sz="3400" b="1">
                <a:solidFill>
                  <a:srgbClr val="FFFFFF"/>
                </a:solidFill>
                <a:latin typeface="Calibri"/>
                <a:cs typeface="Calibri"/>
              </a:rPr>
              <a:t>زیرەکی دەستکرد</a:t>
            </a:r>
          </a:p>
          <a:p>
            <a:pPr algn="ctr" rtl="1">
              <a:spcBef>
                <a:spcPts val="1200"/>
              </a:spcBef>
            </a:pPr>
            <a:r>
              <a:rPr lang="ar-IQ" sz="1500">
                <a:solidFill>
                  <a:srgbClr val="94A3B8"/>
                </a:solidFill>
                <a:latin typeface="Calibri"/>
                <a:cs typeface="Calibri"/>
              </a:rPr>
              <a:t>کۆلێژی زانست</a:t>
            </a:r>
          </a:p>
        </p:txBody>
      </p:sp>
      <p:sp>
        <p:nvSpPr>
          <p:cNvPr id="7" name="StudentCard"/>
          <p:cNvSpPr/>
          <p:nvPr/>
        </p:nvSpPr>
        <p:spPr>
          <a:xfrm>
            <a:off x="1000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2563EB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8BDF8"/>
                </a:solidFill>
                <a:latin typeface="Calibri"/>
                <a:cs typeface="Calibri"/>
              </a:rPr>
              <a:t>ئامادەکردنی: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ئاراس علی</a:t>
            </a:r>
          </a:p>
        </p:txBody>
      </p:sp>
      <p:sp>
        <p:nvSpPr>
          <p:cNvPr id="8" name="SupervisorCard"/>
          <p:cNvSpPr/>
          <p:nvPr/>
        </p:nvSpPr>
        <p:spPr>
          <a:xfrm>
            <a:off x="6292000" y="4200000"/>
            <a:ext cx="4900000" cy="1800000"/>
          </a:xfrm>
          <a:prstGeom prst="rect">
            <a:avLst/>
          </a:prstGeom>
          <a:solidFill>
            <a:srgbClr val="111827"/>
          </a:solidFill>
          <a:ln w="15875">
            <a:solidFill>
              <a:srgbClr val="10B981"/>
            </a:solidFill>
          </a:ln>
        </p:spPr>
        <p:txBody>
          <a:bodyPr anchor="ctr" rtlCol="1" lIns="200000" tIns="160000" rIns="200000" bIns="160000"/>
          <a:lstStyle/>
          <a:p>
            <a:pPr algn="ctr" rtl="1"/>
            <a:r>
              <a:rPr lang="ar-IQ" sz="1300" b="1">
                <a:solidFill>
                  <a:srgbClr val="34D399"/>
                </a:solidFill>
                <a:latin typeface="Calibri"/>
                <a:cs typeface="Calibri"/>
              </a:rPr>
              <a:t>مامۆستای سەرپەرشتیار:</a:t>
            </a:r>
          </a:p>
          <a:p>
            <a:pPr algn="ctr" rtl="1">
              <a:spcBef>
                <a:spcPts val="800"/>
              </a:spcBef>
            </a:pPr>
            <a:r>
              <a:rPr lang="ar-IQ" sz="1800" b="1">
                <a:solidFill>
                  <a:srgbClr val="FFFFFF"/>
                </a:solidFill>
                <a:latin typeface="Calibri"/>
                <a:cs typeface="Calibri"/>
              </a:rPr>
              <a:t>د. نەبەز عومەر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پاشخانی مێژوویی و گەشەسەندن</a:t>
            </a:r>
          </a:p>
        </p:txBody>
      </p:sp>
      <p:pic>
        <p:nvPicPr>
          <p:cNvPr id="6" name="SlideImage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قۆناغی سەرەتایی لە ساڵانی ١٩٥٠ تا ١٩٨٠.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شۆڕشی فێربوونی قووڵ لە ساڵی ٢٠١٢ بەدواوە.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گەشەکردنی مۆدێلە گەورەکانی زمان لە ساڵی ٢٠٢٢.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2 لە 8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کێشە و ئاستەنگەکان</a:t>
            </a:r>
          </a:p>
        </p:txBody>
      </p:sp>
      <p:pic>
        <p:nvPicPr>
          <p:cNvPr id="6" name="SlideImage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کێشەی سەرەکی: کەمیی سەرچاوە و داتای پارێزراو.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دارایی: تێچووی بەرز لە دەستپێکدا بە ڕێژەی ٤٠٪ زیاترە.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ئاستەنگی ئەخلاقی: پاراستنی نهێنی و مافی خاوەندارێتی داتا.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3 لە 8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ئامانجە ستراتیجییەکان</a:t>
            </a:r>
          </a:p>
        </p:txBody>
      </p:sp>
      <p:pic>
        <p:nvPicPr>
          <p:cNvPr id="6" name="SlideImage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بەرزکردنەوەی کارایی کارگێڕی بە ڕێژەی ٦٠٪.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هەڵەی مرۆیی بۆ کەمتر لە ٢٪.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خێراکردنی بڕیاردان لە دەزگا ئەکادیمییەکاندا.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4 لە 8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میتۆدۆلۆژی و شێوازی کار</a:t>
            </a:r>
          </a:p>
        </p:txBody>
      </p:sp>
      <p:pic>
        <p:nvPicPr>
          <p:cNvPr id="6" name="SlideImage5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میتۆدی تاقیکاری و شیکاریی داتای چەندین سەرچاوە.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نموونەی وەرگیراو لە ١٥٠٠ توێژەر و مامۆستا.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بەکارهێنانی مۆدێلی Python و PyTorch بۆ شیکردنەوە.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5 لە 8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ئەنجامە ئامارییەکان</a:t>
            </a:r>
          </a:p>
        </p:txBody>
      </p:sp>
      <p:pic>
        <p:nvPicPr>
          <p:cNvPr id="6" name="SlideImage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گەیشتن بە وردبینی ٩٦.٨٪ لە پۆلێنکردنی داتادا.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کەمکردنەوەی کاتی تاقیکردنەوەکان بە ڕێژەی ٧٠٪.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دڵنیایی ئاماری سەلمێنراو لە هەموو قۆناغەکاندا.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6 لە 8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گفتوگۆ و ڕاسپاردەکان</a:t>
            </a:r>
          </a:p>
        </p:txBody>
      </p:sp>
      <p:pic>
        <p:nvPicPr>
          <p:cNvPr id="6" name="SlideImage7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پێشنیار بۆ دروستکردنی تاقیگەی تایبەت لە زانکۆکان.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ڕاهێنانی بەردەوامی ستاف و مامۆستایان.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دانانی ڕێسای ئەخلاقی بۆ بەکارهێنانی زیرەکی دەستکرد.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7 لە 8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opAccent"/>
          <p:cNvSpPr/>
          <p:nvPr/>
        </p:nvSpPr>
        <p:spPr>
          <a:xfrm>
            <a:off x="0" y="0"/>
            <a:ext cx="12192000" cy="120000"/>
          </a:xfrm>
          <a:prstGeom prst="rect">
            <a:avLst/>
          </a:prstGeom>
          <a:solidFill>
            <a:srgbClr val="2563EB"/>
          </a:solidFill>
        </p:spPr>
      </p:sp>
      <p:sp>
        <p:nvSpPr>
          <p:cNvPr id="3" name="Title"/>
          <p:cNvSpPr>
            <a:spLocks noGrp="1"/>
          </p:cNvSpPr>
          <p:nvPr/>
        </p:nvSpPr>
        <p:spPr>
          <a:xfrm>
            <a:off x="600000" y="300000"/>
            <a:ext cx="10992000" cy="850000"/>
          </a:xfrm>
          <a:prstGeom prst="rect">
            <a:avLst/>
          </a:prstGeom>
        </p:spPr>
        <p:txBody>
          <a:bodyPr anchor="ctr" rtlCol="1"/>
          <a:lstStyle/>
          <a:p>
            <a:pPr algn="r" rtl="1"/>
            <a:r>
              <a:rPr lang="ar-IQ" sz="2400" b="1">
                <a:solidFill>
                  <a:srgbClr val="0F172A"/>
                </a:solidFill>
                <a:latin typeface="Calibri"/>
                <a:cs typeface="Calibri"/>
              </a:rPr>
              <a:t>دەرئەنجام و سەرچاوە زانستییەکان</a:t>
            </a:r>
          </a:p>
        </p:txBody>
      </p:sp>
      <p:pic>
        <p:nvPicPr>
          <p:cNvPr id="6" name="SlideImage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0000" y="1300000"/>
            <a:ext cx="4600000" cy="4900000"/>
          </a:xfrm>
          <a:prstGeom prst="rect">
            <a:avLst/>
          </a:prstGeom>
          <a:ln w="19050">
            <a:solidFill>
              <a:srgbClr val="CBD5E1"/>
            </a:solidFill>
          </a:ln>
        </p:spPr>
      </p:pic>
      <p:sp>
        <p:nvSpPr>
          <p:cNvPr id="4" name="ContentBox"/>
          <p:cNvSpPr/>
          <p:nvPr/>
        </p:nvSpPr>
        <p:spPr>
          <a:xfrm>
            <a:off x="5400000" y="1300000"/>
            <a:ext cx="6192000" cy="4900000"/>
          </a:xfrm>
          <a:prstGeom prst="rect">
            <a:avLst/>
          </a:prstGeom>
          <a:solidFill>
            <a:srgbClr val="F8FAFC"/>
          </a:solidFill>
          <a:ln w="12700">
            <a:solidFill>
              <a:srgbClr val="E2E8F0"/>
            </a:solidFill>
          </a:ln>
        </p:spPr>
        <p:txBody>
          <a:bodyPr anchor="t" rtlCol="1" lIns="250000" tIns="250000" rIns="250000" bIns="250000"/>
          <a:lstStyle/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کورتەی دەرئەنجامی توێژینەوەکە و کارایی سیستەمەکە.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Russell, S., &amp; Norvig, P. (2024). AI: A Modern Approach.</a:t>
            </a:r>
          </a:p>
          <a:p>
            <a:pPr algn="r" rtl="1">
              <a:spcBef>
                <a:spcPts val="600"/>
              </a:spcBef>
            </a:pPr>
            <a:r>
              <a:rPr lang="ar-IQ" sz="1600">
                <a:solidFill>
                  <a:srgbClr val="1E293B"/>
                </a:solidFill>
                <a:latin typeface="Calibri"/>
                <a:cs typeface="Calibri"/>
              </a:rPr>
              <a:t>• سەرچاوە: Goodfellow, I. (2023). Deep Learning. MIT Press.</a:t>
            </a:r>
          </a:p>
        </p:txBody>
      </p:sp>
      <p:sp>
        <p:nvSpPr>
          <p:cNvPr id="5" name="Footer"/>
          <p:cNvSpPr/>
          <p:nvPr/>
        </p:nvSpPr>
        <p:spPr>
          <a:xfrm>
            <a:off x="600000" y="6350000"/>
            <a:ext cx="10992000" cy="350000"/>
          </a:xfrm>
          <a:prstGeom prst="rect">
            <a:avLst/>
          </a:prstGeom>
        </p:spPr>
        <p:txBody>
          <a:bodyPr anchor="b" rtlCol="1"/>
          <a:lstStyle/>
          <a:p>
            <a:pPr algn="r" rtl="1"/>
            <a:r>
              <a:rPr lang="ar-IQ" sz="1100">
                <a:solidFill>
                  <a:srgbClr val="94A3B8"/>
                </a:solidFill>
                <a:latin typeface="Calibri"/>
                <a:cs typeface="Calibri"/>
              </a:rPr>
              <a:t>ZankoAI پرێزێنتەیشنی ئەکادیمی • سلایدی 8 لە 8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0</Notes>
  <HiddenSlides>0</HiddenSlides>
  <MMClips>0</MMClips>
  <ScaleCrop>false</ScaleCrop>
  <HeadingPairs>
    <vt:vector size="2" baseType="variant">
      <vt:variant>
        <vt:lpstr>Theme</vt:lpstr>
      </vt:variant>
      <vt:variant>
        <vt:i4>1</vt:i4>
      </vt:variant>
    </vt:vector>
  </HeadingPairs>
  <TitlesOfParts>
    <vt:vector size="1" baseType="lpstr">
      <vt:lpstr>ZankoAcademic</vt:lpstr>
    </vt:vector>
  </TitlesOfParts>
  <Company>ZankoAI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ئاستەنگە سەرەکییەکان و ڕەهەندە تەکنیکییەکان</dc:title>
  <dc:creator>ZankoAI</dc:creator>
  <cp:lastModifiedBy>ZankoAI Academic Suite</cp:lastModifiedBy>
  <dcterms:created xsi:type="dcterms:W3CDTF">2026-09-01T19:45:35.119409Z</dcterms:created>
  <dcterms:modified xsi:type="dcterms:W3CDTF">2026-09-01T19:45:35.119409Z</dcterms:modified>
</cp:coreProperties>
</file>