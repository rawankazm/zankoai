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  <Relationship Id="rId6" Type="http://schemas.openxmlformats.org/officeDocument/2006/relationships/slide" Target="slides/slide1.xml"/>
  <Relationship Id="rId7" Type="http://schemas.openxmlformats.org/officeDocument/2006/relationships/slide" Target="slides/slide2.xml"/>
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B26C-0A18-4C27-9A74-D8179C8CD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C9519-971B-4E63-B181-32CBA5A32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7BC2-A95C-4529-8FB7-CEEDF9BF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B5DA5-01A3-4163-A8FD-107CAF90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12B6-00B5-47CA-9911-2E6D3867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6B12-7508-42EC-9E52-94319767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8827-8D2F-46F4-AC33-633E1D0C5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A513F-BADB-4911-BE59-F573FAC2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92B56-1F4E-4CE0-A6C8-BFA2414F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37D7-0FF8-41F8-B265-B282FF91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6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A646-EC3B-4624-9E87-37376DD6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9C009-AAB8-4576-B926-760C214BD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2B8D4-D709-45BB-BA26-2D7EAB98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C8B1-0419-4AE7-905D-1B157575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4F349-960D-4695-8C44-947182AB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0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490A-D0F2-4DC5-924B-3A3BA112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2EB14-E0CE-4222-B71B-53B1049B5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3312F-F5A8-4FB8-94CF-ED398A84D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A1D46-0974-47F6-80C1-624BB259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651DD-D881-40CF-AE69-97407130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42455-3898-4166-B125-487CF5D2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1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44A0-4EDB-4BF9-9EA1-9F667D95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B2362-33AA-40FB-9F50-FB0E261CE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90913-DB7E-47C5-AEF4-26784ACE3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805CF-EFDB-45DC-8CDF-A353B8FF0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C0956-9779-42EB-811F-F0A7A4CD8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64095-C2CF-415A-B6BA-1211943D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1B691-9ACA-4FEC-9C03-00F5FEB8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251C7-3BD8-4D40-85E1-3170EE86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6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AF08-D06B-4054-91B8-1EB34AEF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45B40-E5A4-4C5B-9F95-8DAC6ED0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C7C3F-3213-4A18-A87D-0CE2C7DA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FD718-8B2A-4F02-95D0-1D9E8E4A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4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BCD09-5210-48F6-9F95-C6D0B5FEF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03315-5AFC-43C5-BEA0-E7CF28E7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1231-A921-4861-A8FA-53C0E3B0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4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09E7-1513-48BB-AFEB-00F982EB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ED775-94E9-427D-A942-C6517798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23340-F05F-4EA3-A354-A6B21ECDE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5DCA5-49F5-4A29-AAFF-13C74EC0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08514-293A-430A-A1CF-9D381186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E62DF-18A5-4D8C-B0ED-F3372A20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5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4F17-D1D3-49D2-A270-B0648971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DDC76-BDBA-4EB5-B9AE-4E0CC3F7D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3E10A-1CC3-4F2F-83E0-3B770BB62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E7D7B-108D-44AC-9C69-0F703DAA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172FD-FAA2-4309-AD4A-33E622E8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6F060-99C9-425D-AEED-706CDB81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52C7-E0DD-4424-A5B8-43456EBF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5F108-8834-4972-BECA-8B201B8B2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D1451-E2D9-457B-9D71-21A9C83C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10C32-A9C5-4141-A70F-7F3319B0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EA0C1-8DFB-4C55-8FDC-52B01DD1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7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82BDE-F28E-4DE6-A68B-DBE5C6D4E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37E21-AF96-4DC4-9034-1AEBFBACB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E9B8-A1B9-4DC4-922F-E2C62D65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4E86-1BFE-4A4C-A641-C3E1EFDF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1D559-6756-48D0-82D3-62576174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5239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2BDF1-EF74-470B-AC64-E850667BF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18F00-40A9-4C09-9685-AC106659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33ADC-69C4-4877-84AD-BD0770792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BACFF-2033-42CB-965B-5649F963954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A9CD2-6341-4D01-B499-DC631FCAC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28D9C-ECA2-4FB1-8155-4DD84EF39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CF9FB-417B-486D-A087-08F5B7B5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5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2.jpe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3.jpe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4.jpe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5.jpe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6.jpe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7.jpe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8.jpe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ckground"/>
          <p:cNvSpPr/>
          <p:nvPr/>
        </p:nvSpPr>
        <p:spPr>
          <a:xfrm>
            <a:off x="400000" y="400000"/>
            <a:ext cx="11392000" cy="605800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</p:sp>
      <p:sp>
        <p:nvSpPr>
          <p:cNvPr id="3" name="TopGlow"/>
          <p:cNvSpPr/>
          <p:nvPr/>
        </p:nvSpPr>
        <p:spPr>
          <a:xfrm>
            <a:off x="400000" y="400000"/>
            <a:ext cx="11392000" cy="9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UnivBadge"/>
          <p:cNvSpPr/>
          <p:nvPr/>
        </p:nvSpPr>
        <p:spPr>
          <a:xfrm>
            <a:off x="3100000" y="800000"/>
            <a:ext cx="5992000" cy="45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txBody>
          <a:bodyPr anchor="ctr" rtlCol="0"/>
          <a:lstStyle/>
          <a:p>
            <a:pPr algn="ctr"/>
            <a:r>
              <a:rPr lang="ar-IQ" sz="1350" b="1">
                <a:solidFill>
                  <a:srgbClr val="38BDF8"/>
                </a:solidFill>
                <a:latin typeface="Calibri"/>
                <a:cs typeface="Calibri"/>
              </a:rPr>
              <a:t>زانکۆی سەڵاحەدین</a:t>
            </a:r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900000" y="1500000"/>
            <a:ext cx="10392000" cy="2200000"/>
          </a:xfrm>
          <a:prstGeom prst="rect">
            <a:avLst/>
          </a:prstGeom>
        </p:spPr>
        <p:txBody>
          <a:bodyPr anchor="ctr" rtlCol="1"/>
          <a:lstStyle/>
          <a:p>
            <a:pPr algn="ctr" rtl="1"/>
            <a:r>
              <a:rPr lang="ar-IQ" sz="3400" b="1">
                <a:solidFill>
                  <a:srgbClr val="FFFFFF"/>
                </a:solidFill>
                <a:latin typeface="Calibri"/>
                <a:cs typeface="Calibri"/>
              </a:rPr>
              <a:t>زیرەکی دەستکرد</a:t>
            </a:r>
          </a:p>
          <a:p>
            <a:pPr algn="ctr" rtl="1">
              <a:spcBef>
                <a:spcPts val="1200"/>
              </a:spcBef>
            </a:pPr>
            <a:r>
              <a:rPr lang="ar-IQ" sz="1500">
                <a:solidFill>
                  <a:srgbClr val="94A3B8"/>
                </a:solidFill>
                <a:latin typeface="Calibri"/>
                <a:cs typeface="Calibri"/>
              </a:rPr>
              <a:t>کۆلێژی زانست</a:t>
            </a:r>
          </a:p>
        </p:txBody>
      </p:sp>
      <p:sp>
        <p:nvSpPr>
          <p:cNvPr id="7" name="StudentCard"/>
          <p:cNvSpPr/>
          <p:nvPr/>
        </p:nvSpPr>
        <p:spPr>
          <a:xfrm>
            <a:off x="1000000" y="4200000"/>
            <a:ext cx="4900000" cy="1800000"/>
          </a:xfrm>
          <a:prstGeom prst="rect">
            <a:avLst/>
          </a:prstGeom>
          <a:solidFill>
            <a:srgbClr val="111827"/>
          </a:solidFill>
          <a:ln w="15875">
            <a:solidFill>
              <a:srgbClr val="2563EB"/>
            </a:solidFill>
          </a:ln>
        </p:spPr>
        <p:txBody>
          <a:bodyPr anchor="ctr" rtlCol="1" lIns="200000" tIns="160000" rIns="200000" bIns="160000"/>
          <a:lstStyle/>
          <a:p>
            <a:pPr algn="ctr" rtl="1"/>
            <a:r>
              <a:rPr lang="ar-IQ" sz="1300" b="1">
                <a:solidFill>
                  <a:srgbClr val="38BDF8"/>
                </a:solidFill>
                <a:latin typeface="Calibri"/>
                <a:cs typeface="Calibri"/>
              </a:rPr>
              <a:t>ئامادەکردنی:</a:t>
            </a:r>
          </a:p>
          <a:p>
            <a:pPr algn="ctr" rtl="1">
              <a:spcBef>
                <a:spcPts val="800"/>
              </a:spcBef>
            </a:pPr>
            <a:r>
              <a:rPr lang="ar-IQ" sz="1800" b="1">
                <a:solidFill>
                  <a:srgbClr val="FFFFFF"/>
                </a:solidFill>
                <a:latin typeface="Calibri"/>
                <a:cs typeface="Calibri"/>
              </a:rPr>
              <a:t>ئاراس علی</a:t>
            </a:r>
          </a:p>
        </p:txBody>
      </p:sp>
      <p:sp>
        <p:nvSpPr>
          <p:cNvPr id="8" name="SupervisorCard"/>
          <p:cNvSpPr/>
          <p:nvPr/>
        </p:nvSpPr>
        <p:spPr>
          <a:xfrm>
            <a:off x="6292000" y="4200000"/>
            <a:ext cx="4900000" cy="1800000"/>
          </a:xfrm>
          <a:prstGeom prst="rect">
            <a:avLst/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txBody>
          <a:bodyPr anchor="ctr" rtlCol="1" lIns="200000" tIns="160000" rIns="200000" bIns="160000"/>
          <a:lstStyle/>
          <a:p>
            <a:pPr algn="ctr" rtl="1"/>
            <a:r>
              <a:rPr lang="ar-IQ" sz="1300" b="1">
                <a:solidFill>
                  <a:srgbClr val="34D399"/>
                </a:solidFill>
                <a:latin typeface="Calibri"/>
                <a:cs typeface="Calibri"/>
              </a:rPr>
              <a:t>مامۆستای سەرپەرشتیار:</a:t>
            </a:r>
          </a:p>
          <a:p>
            <a:pPr algn="ctr" rtl="1">
              <a:spcBef>
                <a:spcPts val="800"/>
              </a:spcBef>
            </a:pPr>
            <a:r>
              <a:rPr lang="ar-IQ" sz="1800" b="1">
                <a:solidFill>
                  <a:srgbClr val="FFFFFF"/>
                </a:solidFill>
                <a:latin typeface="Calibri"/>
                <a:cs typeface="Calibri"/>
              </a:rPr>
              <a:t>د. نەبەز عومەر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پاشخانی مێژوویی و گەشەسەندن</a:t>
            </a:r>
          </a:p>
        </p:txBody>
      </p:sp>
      <p:pic>
        <p:nvPicPr>
          <p:cNvPr id="6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قۆناغی سەرەتایی لە ساڵانی ١٩٥٠ تا ١٩٨٠.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شۆڕشی فێربوونی قووڵ لە ساڵی ٢٠١٢ بەدواوە.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گەشەکردنی مۆدێلە گەورەکانی زمان لە ساڵی ٢٠٢٢.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2 لە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کێشە و ئاستەنگەکان</a:t>
            </a:r>
          </a:p>
        </p:txBody>
      </p:sp>
      <p:pic>
        <p:nvPicPr>
          <p:cNvPr id="6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کێشەی سەرەکی: کەمیی سەرچاوە و داتای پارێزراو.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ئاستەنگی دارایی: تێچووی بەرز لە دەستپێکدا بە ڕێژەی ٤٠٪ زیاترە.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ئاستەنگی ئەخلاقی: پاراستنی نهێنی و مافی خاوەندارێتی داتا.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3 لە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ئامانجە ستراتیجییەکان</a:t>
            </a:r>
          </a:p>
        </p:txBody>
      </p:sp>
      <p:pic>
        <p:nvPicPr>
          <p:cNvPr id="6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بەرزکردنەوەی کارایی کارگێڕی بە ڕێژەی ٦٠٪.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کەمکردنەوەی هەڵەی مرۆیی بۆ کەمتر لە ٢٪.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خێراکردنی بڕیاردان لە دەزگا ئەکادیمییەکاندا.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4 لە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میتۆدۆلۆژی و شێوازی کار</a:t>
            </a:r>
          </a:p>
        </p:txBody>
      </p:sp>
      <p:pic>
        <p:nvPicPr>
          <p:cNvPr id="6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میتۆدی تاقیکاری و شیکاریی داتای چەندین سەرچاوە.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نموونەی وەرگیراو لە ١٥٠٠ توێژەر و مامۆستا.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بەکارهێنانی مۆدێلی Python و PyTorch بۆ شیکردنەوە.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5 لە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ئەنجامە ئامارییەکان</a:t>
            </a:r>
          </a:p>
        </p:txBody>
      </p:sp>
      <p:pic>
        <p:nvPicPr>
          <p:cNvPr id="6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گەیشتن بە وردبینی ٩٦.٨٪ لە پۆلێنکردنی داتادا.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کەمکردنەوەی کاتی تاقیکردنەوەکان بە ڕێژەی ٧٠٪.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دڵنیایی ئاماری سەلمێنراو لە هەموو قۆناغەکاندا.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6 لە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گفتوگۆ و ڕاسپاردەکان</a:t>
            </a:r>
          </a:p>
        </p:txBody>
      </p:sp>
      <p:pic>
        <p:nvPicPr>
          <p:cNvPr id="6" name="Slide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پێشنیار بۆ دروستکردنی تاقیگەی تایبەت لە زانکۆکان.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ڕاهێنانی بەردەوامی ستاف و مامۆستایان.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دانانی ڕێسای ئەخلاقی بۆ بەکارهێنانی زیرەکی دەستکرد.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7 لە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0000" y="300000"/>
            <a:ext cx="10992000" cy="850000"/>
          </a:xfrm>
          <a:prstGeom prst="rect">
            <a:avLst/>
          </a:prstGeom>
        </p:spPr>
        <p:txBody>
          <a:bodyPr anchor="ctr" rtlCol="1"/>
          <a:lstStyle/>
          <a:p>
            <a:pPr algn="r" rtl="1"/>
            <a:r>
              <a:rPr lang="ar-IQ" sz="2400" b="1">
                <a:solidFill>
                  <a:srgbClr val="0F172A"/>
                </a:solidFill>
                <a:latin typeface="Calibri"/>
                <a:cs typeface="Calibri"/>
              </a:rPr>
              <a:t>دەرئەنجام و سەرچاوە زانستییەکان</a:t>
            </a:r>
          </a:p>
        </p:txBody>
      </p:sp>
      <p:pic>
        <p:nvPicPr>
          <p:cNvPr id="6" name="Slide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00000"/>
            <a:ext cx="4600000" cy="4900000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4" name="ContentBox"/>
          <p:cNvSpPr/>
          <p:nvPr/>
        </p:nvSpPr>
        <p:spPr>
          <a:xfrm>
            <a:off x="5400000" y="1300000"/>
            <a:ext cx="6192000" cy="4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anchor="t" rtlCol="1" lIns="250000" tIns="250000" rIns="250000" bIns="250000"/>
          <a:lstStyle/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کورتەی دەرئەنجامی توێژینەوەکە و کارایی سیستەمەکە.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سەرچاوە: Russell, S., &amp; Norvig, P. (2024). AI: A Modern Approach.</a:t>
            </a:r>
          </a:p>
          <a:p>
            <a:pPr algn="r" rtl="1">
              <a:spcBef>
                <a:spcPts val="600"/>
              </a:spcBef>
            </a:pPr>
            <a:r>
              <a:rPr lang="ar-IQ" sz="1600">
                <a:solidFill>
                  <a:srgbClr val="1E293B"/>
                </a:solidFill>
                <a:latin typeface="Calibri"/>
                <a:cs typeface="Calibri"/>
              </a:rPr>
              <a:t>• سەرچاوە: Goodfellow, I. (2023). Deep Learning. MIT Press.</a:t>
            </a:r>
          </a:p>
          <a:p>
            <a:pPr algn="ctr" rtl="1">
              <a:spcBef>
                <a:spcPts val="1200"/>
              </a:spcBef>
            </a:pPr>
            <a:r>
              <a:rPr lang="ar-IQ" sz="2000" b="1">
                <a:solidFill>
                  <a:srgbClr val="2563EB"/>
                </a:solidFill>
                <a:latin typeface="Calibri"/>
                <a:cs typeface="Calibri"/>
              </a:rPr>
              <a:t>✨ سوپاس بۆ ئامادەبوونتان ✨</a:t>
            </a:r>
          </a:p>
        </p:txBody>
      </p:sp>
      <p:sp>
        <p:nvSpPr>
          <p:cNvPr id="5" name="Footer"/>
          <p:cNvSpPr/>
          <p:nvPr/>
        </p:nvSpPr>
        <p:spPr>
          <a:xfrm>
            <a:off x="600000" y="6350000"/>
            <a:ext cx="10992000" cy="350000"/>
          </a:xfrm>
          <a:prstGeom prst="rect">
            <a:avLst/>
          </a:prstGeom>
        </p:spPr>
        <p:txBody>
          <a:bodyPr anchor="b" rtlCol="1"/>
          <a:lstStyle/>
          <a:p>
            <a:pPr algn="r" rtl="1"/>
            <a:r>
              <a:rPr lang="ar-IQ" sz="1100">
                <a:solidFill>
                  <a:srgbClr val="94A3B8"/>
                </a:solidFill>
                <a:latin typeface="Calibri"/>
                <a:cs typeface="Calibri"/>
              </a:rPr>
              <a:t>ZankoAI پرێزێنتەیشنی ئەکادیمی • سلایدی 8 لە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ZankoAcademic</vt:lpstr>
    </vt:vector>
  </TitlesOfParts>
  <Company>ZankoAI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ئاستەنگە سەرەکییەکان و ڕەهەندە تەکنیکییەکان</dc:title>
  <dc:creator>ZankoAI</dc:creator>
  <cp:lastModifiedBy>ZankoAI Academic Suite</cp:lastModifiedBy>
  <dcterms:created xsi:type="dcterms:W3CDTF">2026-09-09T09:36:52.010532Z</dcterms:created>
  <dcterms:modified xsi:type="dcterms:W3CDTF">2026-09-09T09:36:52.010532Z</dcterms:modified>
</cp:coreProperties>
</file>